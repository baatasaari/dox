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A5FA"/>
                </a:solidFill>
              </a:rPr>
              <a:t>SEED ROUND · CONFIDENTIAL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A29E"/>
                </a:solidFill>
              </a:rPr>
              <a:t>The runtime governance layer for the agentic AI 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29E"/>
                </a:solidFill>
              </a:rPr>
              <a:t>AI agents are being deployed at scale with no observability, no policy enforcement, and no audit trail. Dox fixes that — in real time, without slowing the agent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RAISING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$4M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Agent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Working Product · 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Enterprises Are Deploying AI Agents.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With Zero Visibility Into What They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Runaway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A production multi-agent system looped for 11 days and generated a $47,000 bill before anyone noticed. Enterprise teams now spend 13× more on tokens than 18 months ago — with no circuit breakers.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Prompt Injection Attacks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73% of production deployments contain injection vulnerabilities. Attackers hide instructions in documents, emails, and web pages — hijacking agents mid-task. Global losses: $2.3B in 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8620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Silent Drift &amp; Hallucination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Agents change behaviour as models update. No telemetry means teams find out via angry customers, failed audits, or board-level incidents — not before.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46320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⚖️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Regulatory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EU AI Act is now enforced (€35M fines). SEC requires AI disclosure. NIST AI RMF is the baseline. Most companies can't produce an agent audit trail if asked tomorrow.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91640"/>
            <a:ext cx="5212080" cy="128016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874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4ED8"/>
                </a:solidFill>
              </a:rPr>
              <a:t>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5000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of AI agent initiatives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532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16C"/>
                </a:solidFill>
              </a:rPr>
              <a:t>projected to fail by 2027 due to uncontrolled cost, drift, and compliance gaps · Gartner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108960"/>
            <a:ext cx="5212080" cy="128016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91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B91C1C"/>
                </a:solidFill>
              </a:rPr>
              <a:t>73%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76732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of production agent deployments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502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16C"/>
                </a:solidFill>
              </a:rPr>
              <a:t>contain exploitable prompt injection vulnerabilities · Unit 42, 2025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526280"/>
            <a:ext cx="5212080" cy="128016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709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B45309"/>
                </a:solidFill>
              </a:rPr>
              <a:t>$670K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1846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avg. cost added per data breach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3675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16C"/>
                </a:solidFill>
              </a:rPr>
              <a:t>when unsanctioned AI tools are involved · IBM Cost of a Data Breach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A Billion-Dollar Category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Forming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880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</a:rPr>
              <a:t>$12B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AI Agent Platform Market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16C"/>
                </a:solidFill>
              </a:rPr>
              <a:t>44% CAGR through 2030 · IDC / Gartner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0168" y="182880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920240"/>
            <a:ext cx="2880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084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</a:rPr>
              <a:t>$1.2B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542032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AI Governance &amp; Observability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24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16C"/>
                </a:solidFill>
              </a:rPr>
              <a:t>10–15% of agent platform market · Gartner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0256" y="182880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7416" y="1920240"/>
            <a:ext cx="2880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SOM (3YR)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6" y="2084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</a:rPr>
              <a:t>$60M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7416" y="2542032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ARR target by 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2724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16C"/>
                </a:solidFill>
              </a:rPr>
              <a:t>5% SAM capture · 1,200 enterprise customers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10344" y="1828800"/>
            <a:ext cx="2880360" cy="14173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47504" y="1920240"/>
            <a:ext cx="2880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7504" y="2084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</a:rPr>
              <a:t>8×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2542032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Enterprise agent adoption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7504" y="2724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16C"/>
                </a:solidFill>
              </a:rPr>
              <a:t>&lt;5% → 40% of enterprise apps by 2026 · Gartner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290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Why Now?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21608"/>
            <a:ext cx="54864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94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37947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Adoption Inflection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3977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Enterprise AI agent adoption is compressing 5 years of growth into 12 months. Every new agent without governance is a liability created.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62856"/>
            <a:ext cx="54864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6360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🇪🇺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63600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Regulation Has Arrived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4818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EU AI Act GPAI obligations live since Aug 2025. SEC AI scrutiny is Exam Priority #1. This is no longer a 'nice to have.'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404104"/>
            <a:ext cx="54864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47725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🏗️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547725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Infrastructure 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56601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Observability tools show you what happened. No one stops it from happening. Dox is the enforcement layer — a new primitive.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429000"/>
            <a:ext cx="53035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56616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The Compounding Market Dynamic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90448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Each AI agent deployed is a permanent customer for governance tooling as long as it runs. Dox revenue grows with your customers' agent fleets — not just headcount.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544568"/>
            <a:ext cx="4937760" cy="256032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5902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Year 1: 10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5902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$2,500/mo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837176"/>
            <a:ext cx="4937760" cy="256032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88289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Year 2: 50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88289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$8,500/mo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5129784"/>
            <a:ext cx="4937760" cy="256032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517550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Year 3: 200+ agents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517550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Custom Enterprise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7607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Customers naturally expand. NRR target: &gt;130%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8716C"/>
                </a:solidFill>
              </a:rPr>
              <a:t>Sources: Gartner Feb 2026 · Gartner Aug 2025 · IDC AI Agent Forecast 2025–2030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Dox: Runtime Governance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for Every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</a:rPr>
              <a:t>Dox is a cloud-agnostic governance control plane. Every agent action flows through a canonical event stream — Dox observes, evaluates policy, and intervenes in real time. Non-blocking. Zero latency to the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709928" cy="86868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2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</a:rPr>
              <a:t>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24912"/>
            <a:ext cx="15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Canonical event stream from every agent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2304" y="2377440"/>
            <a:ext cx="1709928" cy="86868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2450592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724912"/>
            <a:ext cx="15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907792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11 sentinel types, configurable policies per tenant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2377440"/>
            <a:ext cx="1709928" cy="86868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2450592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</a:rP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724912"/>
            <a:ext cx="15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803D"/>
                </a:solidFill>
              </a:rPr>
              <a:t>Intervene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907792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Warn, block, pause, escalate, or terminate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5486400" cy="1874519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01568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A29E"/>
                </a:solidFill>
              </a:rPr>
              <a:t># Instrument any agent in 3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7E5E4"/>
                </a:solidFill>
              </a:rPr>
              <a:t>from dox_sdk import DoxClientBuilder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30752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95344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7E5E4"/>
                </a:solidFill>
              </a:rPr>
              <a:t>client = (DoxClientBuilder()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9936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7E5E4"/>
                </a:solidFill>
              </a:rPr>
              <a:t>    .base_url("https://dox.your-org.com")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24528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7E5E4"/>
                </a:solidFill>
              </a:rPr>
              <a:t>    .api_key("your-agent-jwt")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89120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7E5E4"/>
                </a:solidFill>
              </a:rPr>
              <a:t>    .raise_on_error(False)   # never blocks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7E5E4"/>
                </a:solidFill>
              </a:rPr>
              <a:t>    .build())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18304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82896"/>
            <a:ext cx="5166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DE80"/>
                </a:solidFill>
              </a:rPr>
              <a:t>await client.emit(event)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What Dox Enforces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148840"/>
            <a:ext cx="5303520" cy="27432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148840"/>
            <a:ext cx="5303520" cy="256032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218541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C1917"/>
                </a:solidFill>
              </a:rPr>
              <a:t>Sentinel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1792" y="218541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Intervention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9632" y="218541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Regulatory Link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423160"/>
            <a:ext cx="530352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423160"/>
            <a:ext cx="5303520" cy="27432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245973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Prompt Injection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1792" y="245973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Terminate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9632" y="245973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OWASP LLM #1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697480"/>
            <a:ext cx="530352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697480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273405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Tool Misuse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1792" y="273405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Block / Warn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09632" y="273405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EU AI Act Art. 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971800"/>
            <a:ext cx="530352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2971800"/>
            <a:ext cx="5303520" cy="27432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300837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Cost 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1792" y="300837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Pause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9632" y="300837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Internal Policy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246120"/>
            <a:ext cx="530352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3246120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328269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Trajectory Drift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1792" y="328269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Human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09632" y="328269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NIST AI RMF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520440"/>
            <a:ext cx="530352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3520440"/>
            <a:ext cx="5303520" cy="27432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3952" y="355701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Memory Write Bias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1792" y="355701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Rollback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09632" y="355701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EU AI Act Art. 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794760"/>
            <a:ext cx="530352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3794760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3952" y="383133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Delegation Abuse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1792" y="383133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Isolate Agent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09632" y="383133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Zero-trust policy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4069080"/>
            <a:ext cx="530352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00800" y="4069080"/>
            <a:ext cx="5303520" cy="27432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73952" y="410565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Regulatory Breach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41792" y="410565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Terminate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09632" y="4105656"/>
            <a:ext cx="167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MiFID II / HIPAA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343400"/>
            <a:ext cx="530352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4480560"/>
            <a:ext cx="1106424" cy="219456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73952" y="4517136"/>
            <a:ext cx="1014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35 event types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0376" y="4480560"/>
            <a:ext cx="1284732" cy="219456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53528" y="4517136"/>
            <a:ext cx="11932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Multi-tenant RBAC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38260" y="4480560"/>
            <a:ext cx="1700784" cy="219456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11412" y="4517136"/>
            <a:ext cx="1609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Tamper-evident audit log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4773168"/>
            <a:ext cx="1403604" cy="219456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73952" y="4809744"/>
            <a:ext cx="13121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LangGraph workflows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77556" y="4773168"/>
            <a:ext cx="1106424" cy="219456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50708" y="4809744"/>
            <a:ext cx="1014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Cloud-agnostic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57132" y="4773168"/>
            <a:ext cx="1522476" cy="219456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30284" y="4809744"/>
            <a:ext cx="14310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REST API + Python SDK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Working Product.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Early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Product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2140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2128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Production-Grade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957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Full governance control plane shipped: event ingestion, policy engine, 11 sentinel types, drift detection, quota enforcement, compliance reporting, webhook delivery, LangGraph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815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1729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17296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1,372 Tests · 80%+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355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Full unit and integration test suite. End-to-end tested against PostgreSQL 16 + Redis 7. Alembic migration-managed schema.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4164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133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13308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SDK Shipped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3159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Python SDK with fire-and-forget instrumentation. 3-line integration. Non-blocking async design — zero agent overhead.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0176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0932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509320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End-to-End Demo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52760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Full flow demonstrated: auth → agent registration → event ingestion → real-time policy evaluation → sentinel alert → compliance report in under 60 seconds.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Validation Signals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21408"/>
            <a:ext cx="5303520" cy="1170432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23113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D4ED8"/>
                </a:solidFill>
              </a:rPr>
              <a:t>MARKET TIMING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41401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Gartner named AI Governance a $492M → $1B category in Feb 2026, one month after Dox's core build completed. The analyst validation followed the build — not the other way around.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383280"/>
            <a:ext cx="5303520" cy="1170432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49300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5803D"/>
                </a:solidFill>
              </a:rPr>
              <a:t>REGULATORY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675888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EU AI Act enforcement (Aug 2025) and SEC AI scrutiny (2026) create mandatory demand. Dox maps directly to EU AI Act Article 12 logging requirements and NIST AI RMF functions.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645152"/>
            <a:ext cx="5303520" cy="117043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7548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B45309"/>
                </a:solidFill>
              </a:rPr>
              <a:t>DESIGN PARTNER PIPELINE (SEEKING)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937760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Targeting 3–5 design partners from financial services, healthcare, and enterprise SaaS — sectors with the most acute governance exposure and the highest regulatory fine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SaaS Subscription.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Expanding With Agent Fleet 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7099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1709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21408"/>
            <a:ext cx="1490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</a:rPr>
              <a:t>$2.5K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60320"/>
            <a:ext cx="1490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/month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724912"/>
            <a:ext cx="149047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788920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Up to 10 agents
1M events/month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32304" y="1828800"/>
            <a:ext cx="1709928" cy="13716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938528"/>
            <a:ext cx="1709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D4ED8"/>
                </a:solidFill>
              </a:rPr>
              <a:t>PROFESSIONAL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121408"/>
            <a:ext cx="1490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$8.5K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560320"/>
            <a:ext cx="1490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/month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2724912"/>
            <a:ext cx="149047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788920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Up to 50 agents
10M events/month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828800"/>
            <a:ext cx="17099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1938528"/>
            <a:ext cx="1709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2121408"/>
            <a:ext cx="1490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</a:rPr>
              <a:t>Custom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2560320"/>
            <a:ext cx="1490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16C"/>
                </a:solidFill>
              </a:rPr>
              <a:t>ARR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2724912"/>
            <a:ext cx="149047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2788920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Unlimited agents
On-prem option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3756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429000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Unit Economics (Target)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03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Average Contract Value (ACV)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7033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C1917"/>
                </a:solidFill>
              </a:rPr>
              <a:t>$72,000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950208"/>
            <a:ext cx="512064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977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Target Gross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9776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78%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224528"/>
            <a:ext cx="512064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CAC (blended, Yr 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51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C1917"/>
                </a:solidFill>
              </a:rPr>
              <a:t>$24,000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498848"/>
            <a:ext cx="512064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26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Payback Period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526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C1917"/>
                </a:solidFill>
              </a:rPr>
              <a:t>&lt;5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773168"/>
            <a:ext cx="512064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00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LTV (5yr, 130% NRR)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006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5803D"/>
                </a:solidFill>
              </a:rPr>
              <a:t>$520,000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047488"/>
            <a:ext cx="512064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LTV:CAC Ratio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0749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D4ED8"/>
                </a:solidFill>
              </a:rPr>
              <a:t>21×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321808"/>
            <a:ext cx="512064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Why Net Revenue Retention Exceeds 130%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121408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22128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221284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Agent Fleet Expansion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568" y="23957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Customers start with 10 agents. Average enterprise deploys 50+ within 18 months. Pricing scales with fleet.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127248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0528" y="32186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321868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Multi-Tenant Upsell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568" y="34015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Mid-market buyers become multi-BU Enterprise buyers. A single team proves value; compliance mandates it org-wide.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133088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0528" y="42245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422452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Platform Stickiness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4074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Audit logs, baselines, and policy libraries compound over time. Ripping out Dox means losing compliance history.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5138928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0528" y="5230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23036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Professional Services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0568" y="54132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Governance framework design, EU AI Act evidence packs, and custom sentinel authoring — high-margin advisory.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Land on Compliance Pain.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Expand on Agent Fleet 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Phase 1 — Design Partners (0–6 months)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Hand-hold 3–5 companies through a free 60-day governance assessment. Convert to paid. Use case studies as GTM collateral.  Sectors: Financial Services · Healthcare · Enterprise SaaS · Legal 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Phase 2 — Compliance-Led Sales (6–18 months)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02152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ICP: VP Engineering / CISO / Chief AI Officer at companies with active EU AI Act exposure or SEC reporting. ACV target: $72K · Sales cycle: 45–90 days · Champion: Head of AI / Platform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8056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Phase 3 — Platform + Channel (18–36 months)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Partner with LangChain, AWS Marketplace, Azure AI foundry. White-label for MSSPs. Build a policy template marketplace (network effects on the governance library).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Sales Motion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21408"/>
            <a:ext cx="5303520" cy="594360"/>
          </a:xfrm>
          <a:prstGeom prst="rect">
            <a:avLst/>
          </a:prstGeom>
          <a:solidFill>
            <a:srgbClr val="EFF6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212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ICP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19456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</a:rPr>
              <a:t>Qualification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39572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≥5 production AI agents + regulatory exposure + cloud spend &gt;$500K/yr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79776"/>
            <a:ext cx="5303520" cy="594360"/>
          </a:xfrm>
          <a:prstGeom prst="rect">
            <a:avLst/>
          </a:prstGeom>
          <a:solidFill>
            <a:srgbClr val="EFF6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8712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POC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85292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</a:rPr>
              <a:t>14-Day Trial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05409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We instrument one agent, show real governance data. First alert → deal accelerates.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438144"/>
            <a:ext cx="5303520" cy="594360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5295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51129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</a:rPr>
              <a:t>Annual 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71246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Champion → CISO / CFO approval. Compliance mandate removes discretionary budget friction.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096512"/>
            <a:ext cx="5303520" cy="594360"/>
          </a:xfrm>
          <a:prstGeom prst="rect">
            <a:avLst/>
          </a:prstGeom>
          <a:solidFill>
            <a:srgbClr val="F0FD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187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Expand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16966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</a:rPr>
              <a:t>Fleet Growth → Tier Upgrade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37083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Agents scale → contract grows. Target NRR &gt;130%.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800600"/>
            <a:ext cx="53035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86460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Year 1 Targets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120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Design partners (free → paid)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51206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65392" y="5340096"/>
            <a:ext cx="498348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5376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Paying customers (EoY)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5376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65392" y="5596128"/>
            <a:ext cx="498348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56327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ARR (EoY)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563270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$1.8M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5392" y="5852160"/>
            <a:ext cx="498348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58887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ACV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588873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$60K avg.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65392" y="6108192"/>
            <a:ext cx="498348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The Enforcement Gap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Nobody Else Is Filling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86400" cy="256032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6537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C1917"/>
                </a:solidFill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186537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Dox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186537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LangSmith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186537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Arize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86537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DIY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21408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5798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Real-time policy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15798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15798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215798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15798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21762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414016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414016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4505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Automated interventions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" y="24505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✓ 10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24505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24505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24505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0512" y="24688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</a:rPr>
              <a:t>✓ 10 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706624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2706624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27432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Prompt injection blocking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27432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27432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5072" y="27432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27432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Manual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0512" y="276148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999232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2999232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303580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Cost loop circuit breaker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0512" y="303580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7792" y="303580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Alert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05072" y="303580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2" y="303580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0512" y="305409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291840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3291840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3328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EU AI Act audit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10512" y="3328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07792" y="3328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05072" y="3328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02352" y="3328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10512" y="33467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3584448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" y="3584448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36210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On-prem / air-gapped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0512" y="36210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07792" y="36210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5072" y="36210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36210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0512" y="36393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3877056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" y="3877056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39136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Multi-tenant RBAC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10512" y="39136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2" y="39136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Basic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39136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Basic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02352" y="39136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Build 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10512" y="39319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4169664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" y="4306824"/>
            <a:ext cx="5486400" cy="621792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672" y="441655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The key insight: Observability tools watch the car. Dox has the steering wheel. That's a different product with a different buyer (compliance/CISO) and different willingness to pay.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Durable Moats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2121408"/>
            <a:ext cx="5303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10528" y="22128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221284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Audit History Lock-in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23957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The longer a customer runs Dox, the more governance history accumulates. Switching means losing the audit trail regulators will ask for in year 3.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3218688"/>
            <a:ext cx="5303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10528" y="33101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📚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30568" y="331012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Policy Library Network Effects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34930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A marketplace of governance policies gets better as more customers contribute. Switching means starting over.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0" y="4315968"/>
            <a:ext cx="5303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10528" y="4407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30568" y="440740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Framework Integrations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30568" y="4590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Deep integration with LangGraph, LangChain, and major agent frameworks makes Dox the path of least resistance.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5413248"/>
            <a:ext cx="5303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10528" y="55046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30568" y="550468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Enforcement = Different Buyer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30568" y="56875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716C"/>
                </a:solidFill>
              </a:rPr>
              <a:t>Compliance mandates unlock a budget observability tools can't access. CISO + Chief AI Officer + Legal are buyers.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Built By People Who've Felt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This Problem Firsthand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80260" y="1965960"/>
            <a:ext cx="685800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80260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917"/>
                </a:solidFill>
              </a:rPr>
              <a:t>Founder /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92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D4ED8"/>
                </a:solidFill>
              </a:rPr>
              <a:t>Add Name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Previously led AI platform engineering at [Enterprise]. Built and operated production multi-agent systems at scale. Experienced the governance gap directly — cost runaways, compliance scrambles, injection incidents.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D4ED8"/>
                </a:solidFill>
              </a:rPr>
              <a:t>AI/ML  ·  Platform Eng.  ·  Founder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56148" y="1965960"/>
            <a:ext cx="685800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56148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743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917"/>
                </a:solidFill>
              </a:rPr>
              <a:t>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9992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D4ED8"/>
                </a:solidFill>
              </a:rPr>
              <a:t>Add Name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3200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Previously Staff Engineer at [Security/Infra Company]. Built high-throughput event processing pipelines. Deep expertise in async Python, distributed systems, and security engineering.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42519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D4ED8"/>
                </a:solidFill>
              </a:rPr>
              <a:t>Systems  ·  Security  · 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6" y="182880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2036" y="1965960"/>
            <a:ext cx="685800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2036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743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917"/>
                </a:solidFill>
              </a:rPr>
              <a:t>Head of GTM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9992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D4ED8"/>
                </a:solidFill>
              </a:rPr>
              <a:t>Add Name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200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Previously led enterprise sales at [DevTools / Infra SaaS company]. Closed $20M+ in ARR. Deep relationships with CISO and Chief AI Officer buyers in FS and healthcare.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42519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D4ED8"/>
                </a:solidFill>
              </a:rPr>
              <a:t>Enterprise Sales  ·  FS / Healthcare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54880"/>
            <a:ext cx="5394960" cy="13716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463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Why We Win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02352"/>
            <a:ext cx="5120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We've shipped a production-grade governance platform before raising a dollar. The codebase has 1,372 tests, full async architecture, and a working end-to-end demo. We build before we fundraise.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75488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846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Advisors &amp; Early Supporters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10235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Seeking advisors from: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5349240"/>
            <a:ext cx="1567281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5385816"/>
            <a:ext cx="14758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AI Safety / Governance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6953" y="5349240"/>
            <a:ext cx="1623974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0105" y="5385816"/>
            <a:ext cx="15325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Enterprise SaaS Scaling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5623560"/>
            <a:ext cx="1850745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5660136"/>
            <a:ext cx="175930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Financial Services CIO/CISO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0417" y="5623560"/>
            <a:ext cx="1567281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3569" y="5660136"/>
            <a:ext cx="14758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EU AI Act / Regulatory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Path to $10M ARR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in 30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86400" cy="256032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653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C1917"/>
                </a:solidFill>
              </a:rP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8653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8653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Year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21408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5798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215798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15798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15798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14016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414016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4505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Avg ACV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24505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$60K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4505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$72K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24505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$90K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06624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06624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7432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ARR (EoY)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2" y="27432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$1.8M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27432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$10.8M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27432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$45M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2" y="27614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</a:rPr>
              <a:t>$1.8M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27614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</a:rPr>
              <a:t>$10.8M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7614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</a:rPr>
              <a:t>$45M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99232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2999232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035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NRR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3035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3035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130%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3035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135%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291840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3291840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32841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Gross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84832" y="332841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72%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432" y="332841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76%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332841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80%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584448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3584448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362102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Headcount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84832" y="362102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6432" y="362102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362102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3877056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" y="3877056"/>
            <a:ext cx="5486400" cy="29260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9136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</a:rPr>
              <a:t>Burn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84832" y="39136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$350K/mo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6432" y="39136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$900K/mo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28032" y="39136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Near breakeven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169664"/>
            <a:ext cx="548640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4306824"/>
            <a:ext cx="5486400" cy="6858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4398264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Key assumption: NRR &gt;130% driven by agent fleet expansion. A customer starting with 10 agents typically reaches 50+ within 18 months — tripling their contract value with zero additional sales cost.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ARR Growth Curve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5392" y="2121408"/>
            <a:ext cx="30614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Q2 2026 · First paying customer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26803" y="2121408"/>
            <a:ext cx="18763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$60K ARR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65392" y="2359152"/>
            <a:ext cx="4937760" cy="10972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65392" y="2359152"/>
            <a:ext cx="54864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65392" y="2926080"/>
            <a:ext cx="30614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Q4 2026 · 30 customers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6803" y="2926080"/>
            <a:ext cx="18763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$1.8M ARR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65392" y="3163824"/>
            <a:ext cx="4937760" cy="10972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565392" y="3163824"/>
            <a:ext cx="19751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65392" y="3730752"/>
            <a:ext cx="30614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Q4 2027 · 150 customers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26803" y="3730752"/>
            <a:ext cx="18763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D4ED8"/>
                </a:solidFill>
              </a:rPr>
              <a:t>$10.8M ARR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65392" y="3968496"/>
            <a:ext cx="4937760" cy="10972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65392" y="3968496"/>
            <a:ext cx="118506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65392" y="4535424"/>
            <a:ext cx="30614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Q4 2028 · 500 customers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26803" y="4535424"/>
            <a:ext cx="18763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5803D"/>
                </a:solidFill>
              </a:rPr>
              <a:t>$45M ARR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65392" y="4773168"/>
            <a:ext cx="4937760" cy="10972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65392" y="4773168"/>
            <a:ext cx="493776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0" y="5394960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65392" y="545896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Series A Readiness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65392" y="5715000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At $10M ARR, 130%+ NRR, and 80% gross margin, Dox will be positioned for a $40–60M Series A at a &gt;10× ARR multiple — targeting $100M+ ARR within 5 years of founding.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8716C"/>
                </a:solidFill>
              </a:rPr>
              <a:t>Projections are forward-looking estimates. Actual results may vary.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RISK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We Know the Risks.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Here's How We Address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0" cy="210312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2024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</a:rPr>
              <a:t>Big Tech Moves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920240"/>
            <a:ext cx="777240" cy="21945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1947672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91C1C"/>
                </a:solidFill>
              </a:rPr>
              <a:t>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</a:rPr>
              <a:t>AWS, Azure, or Google ships a native agent governance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68880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Mitigation: Cloud-agnostic is our moat. Customers with multi-cloud or on-prem agents can't use a single-cloud solution. Compliance buyers need vendor-neutral audit evidence. We also move faster — shipped in months, not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69080"/>
            <a:ext cx="5486400" cy="21031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1605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</a:rPr>
              <a:t>Observability Players Expand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4160520"/>
            <a:ext cx="777240" cy="219456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4187952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45309"/>
                </a:solidFill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53128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</a:rPr>
              <a:t>LangSmith or Arize adds enforcement capabilities.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709160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Mitigation: Enforcement requires deep compliance and security domain expertise. Our policy corpus and regulatory mapping are 12+ months ahead. The governance buyer (CISO/Legal) is different from the observability buyer (DevOps).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5303520" cy="2103120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92024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</a:rPr>
              <a:t>AI Agent Adoption Slows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1920240"/>
            <a:ext cx="777240" cy="219456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08208" y="1947672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D28D9"/>
                </a:solidFill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212848"/>
            <a:ext cx="498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</a:rPr>
              <a:t>Enterprise AI agent deployment stalls or reverses.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468880"/>
            <a:ext cx="4983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Mitigation: Regulatory requirements (EU AI Act) create demand for governance regardless of adoption pace. Even a 50% reduction in agent adoption still leaves a $5B+ market. We're the fire extinguisher — demand goes up when things go wrong.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69080"/>
            <a:ext cx="5303520" cy="210312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16052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</a:rPr>
              <a:t>Long Enterprise Sales Cycles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89920" y="4160520"/>
            <a:ext cx="777240" cy="21945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08208" y="4187952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5803D"/>
                </a:solidFill>
              </a:rPr>
              <a:t>Manageable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453128"/>
            <a:ext cx="498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</a:rPr>
              <a:t>Security/compliance procurement can take 6–12 months.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709160"/>
            <a:ext cx="4983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Mitigation: Compliance mandates (EU AI Act fines, SEC scrutiny) compress cycles. 14-day POC gets real data into hands fast — first sentinel alert closes deals faster than any sales deck.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</a:rPr>
              <a:t>$4M Seed Round —</a:t>
            </a:r>
          </a:p>
          <a:p>
            <a:pPr algn="l"/>
            <a:r>
              <a:rPr sz="2200" b="1">
                <a:solidFill>
                  <a:srgbClr val="1C1917"/>
                </a:solidFill>
              </a:rPr>
              <a:t>18 Months of Runway to $10M ARR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920240"/>
            <a:ext cx="516636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93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</a:rPr>
              <a:t>Engineering · $1.6M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3 senior engineers (ML anomaly detection, infra, frontend dashboard). Series A-ready product: Helm chart, SSO, EU AI Act evidence pack, Grafana dashboards.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743200"/>
            <a:ext cx="4526280" cy="9144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2743200"/>
            <a:ext cx="452628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2999232"/>
            <a:ext cx="516636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07238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723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</a:rPr>
              <a:t>Sales &amp; Marketing · $1.2M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19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2 enterprise AEs, 1 SDR, content (EU AI Act compliance drives inbound), conference presence (RSA, Gartner Data &amp; AI Summit), analyst relations.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822192"/>
            <a:ext cx="4526280" cy="9144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17320" y="3822192"/>
            <a:ext cx="339471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4078224"/>
            <a:ext cx="516636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1513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513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</a:rPr>
              <a:t>Customer Success · $600K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982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2 CSMs focused on design partner success and expansion. Governance framework consulting drives NRR.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4901184"/>
            <a:ext cx="4526280" cy="9144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17320" y="4901184"/>
            <a:ext cx="169735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5157216"/>
            <a:ext cx="5166360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2303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2303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</a:rPr>
              <a:t>Operations &amp; Infrastructure · $600K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4772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Cloud infra, security audits (SOC 2 Type II), legal (EU AI Act compliance counsel), G&amp;A.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5980176"/>
            <a:ext cx="4526280" cy="9144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5980176"/>
            <a:ext cx="169735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917"/>
                </a:solidFill>
              </a:rPr>
              <a:t>Milestones This Round Funds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121408"/>
            <a:ext cx="5303520" cy="84124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121408"/>
            <a:ext cx="36576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D4ED8"/>
                </a:solidFill>
              </a:rPr>
              <a:t>MONTH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3957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5 paying design partners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15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$300K ARR · First case studies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081528"/>
            <a:ext cx="5303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081528"/>
            <a:ext cx="36576" cy="84124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1546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MONTH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3558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SOC 2 Type II + EU AI Act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5753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Unlocks enterprise procurement · $800K ARR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041648"/>
            <a:ext cx="5303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041648"/>
            <a:ext cx="36576" cy="841248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1148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MONTH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3159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30 customers · $1.8M ARR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535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ML anomaly detection shipped · Series A pipeline begins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001768"/>
            <a:ext cx="5303520" cy="841248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5001768"/>
            <a:ext cx="36576" cy="84124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0749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5803D"/>
                </a:solidFill>
              </a:rPr>
              <a:t>MONTH 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276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</a:rPr>
              <a:t>Series A at $10M ARR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495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</a:rPr>
              <a:t>130%+ NRR · 80% gross margin · clear path to $45M ARR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989320"/>
            <a:ext cx="5303520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605332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</a:rPr>
              <a:t>At $1.8M ARR with 80% gross margin, Dox is Series A-ready. This seed round is designed to prove the unit economics — not to reach profitability.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D4ED8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917"/>
                </a:solidFill>
              </a:rPr>
              <a:t>Seed Round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ROUND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4ED8"/>
                </a:solidFill>
              </a:rPr>
              <a:t>$4M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Targeting $3.5M–$4.5M
SAFE or priced equity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645920"/>
            <a:ext cx="3566160" cy="1645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783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PRE-MONEY 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9933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4ED8"/>
                </a:solidFill>
              </a:rPr>
              <a:t>$16M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7249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Production product shipped
Working demo · GA 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164592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783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9933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803D"/>
                </a:solidFill>
              </a:rPr>
              <a:t>18mo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7249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</a:rPr>
              <a:t>To $1.8M ARR
Series A trigger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What We're Looking For in Investors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1363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136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Experience with infrastructure / developer tools at Seed → Series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1655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165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Portfolio companies with AI governance exposure (intro leverage)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1947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9194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Enterprise SaaS networks — CISOs, VPs of Engineering, Chief AI Officers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2239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223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Conviction on AI safety as an infrastructure layer, not just an ethics concern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520440"/>
            <a:ext cx="5303520" cy="256032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6118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Why Invest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1363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9136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Working product — not a deck. Risk profile is execution, not technology.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1655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4165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Regulatory tailwinds make demand non-discretionary — compliance budgets, not IT budgets.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1947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919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$492M market in 2026, $1B+ by 2030 — early mover advantage is real and closing fast.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42239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4223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</a:rPr>
              <a:t>Unit economics: 21× LTV:CAC, &lt;5-month payback, 130%+ NRR from agent fleet expansion.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A5FA"/>
                </a:solidFill>
              </a:rPr>
              <a:t>LET'S BUILD THIS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Every AI Agent Running Today</a:t>
            </a:r>
          </a:p>
          <a:p>
            <a:pPr algn="l"/>
            <a:r>
              <a:rPr sz="2800" b="1">
                <a:solidFill>
                  <a:srgbClr val="FFFFFF"/>
                </a:solidFill>
              </a:rPr>
              <a:t>Is Running Without a Safety 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29E"/>
                </a:solidFill>
              </a:rPr>
              <a:t>Dox is the infrastructure layer that makes agentic AI safe to deploy at enterprise scale.
We've built the product. Now we're building the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$4M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PRE-MONEY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$16M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invest@dox.ai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78716C"/>
                </a:solidFill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github.com/baatasaari/dox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7534E"/>
                </a:solidFill>
              </a:rPr>
              <a:t>Confidential — for intended recipient only. Not an offer to sell securities.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